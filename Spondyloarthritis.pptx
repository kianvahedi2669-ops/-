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85"/>
  </p:notesMasterIdLst>
  <p:handoutMasterIdLst>
    <p:handoutMasterId r:id="rId86"/>
  </p:handoutMasterIdLst>
  <p:sldIdLst>
    <p:sldId id="325" r:id="rId5"/>
    <p:sldId id="326" r:id="rId6"/>
    <p:sldId id="259" r:id="rId7"/>
    <p:sldId id="257" r:id="rId8"/>
    <p:sldId id="261" r:id="rId9"/>
    <p:sldId id="258" r:id="rId10"/>
    <p:sldId id="341" r:id="rId11"/>
    <p:sldId id="342" r:id="rId12"/>
    <p:sldId id="346" r:id="rId13"/>
    <p:sldId id="263" r:id="rId14"/>
    <p:sldId id="354" r:id="rId15"/>
    <p:sldId id="355" r:id="rId16"/>
    <p:sldId id="264" r:id="rId17"/>
    <p:sldId id="343" r:id="rId18"/>
    <p:sldId id="357" r:id="rId19"/>
    <p:sldId id="345" r:id="rId20"/>
    <p:sldId id="369" r:id="rId21"/>
    <p:sldId id="371" r:id="rId22"/>
    <p:sldId id="347" r:id="rId23"/>
    <p:sldId id="344" r:id="rId24"/>
    <p:sldId id="349" r:id="rId25"/>
    <p:sldId id="350" r:id="rId26"/>
    <p:sldId id="358" r:id="rId27"/>
    <p:sldId id="351" r:id="rId28"/>
    <p:sldId id="359" r:id="rId29"/>
    <p:sldId id="360" r:id="rId30"/>
    <p:sldId id="352" r:id="rId31"/>
    <p:sldId id="265" r:id="rId32"/>
    <p:sldId id="361" r:id="rId33"/>
    <p:sldId id="362" r:id="rId34"/>
    <p:sldId id="363" r:id="rId35"/>
    <p:sldId id="364" r:id="rId36"/>
    <p:sldId id="365" r:id="rId37"/>
    <p:sldId id="370" r:id="rId38"/>
    <p:sldId id="372" r:id="rId39"/>
    <p:sldId id="373" r:id="rId40"/>
    <p:sldId id="374" r:id="rId41"/>
    <p:sldId id="375" r:id="rId42"/>
    <p:sldId id="377" r:id="rId43"/>
    <p:sldId id="376" r:id="rId44"/>
    <p:sldId id="378" r:id="rId45"/>
    <p:sldId id="379" r:id="rId46"/>
    <p:sldId id="380" r:id="rId47"/>
    <p:sldId id="381" r:id="rId48"/>
    <p:sldId id="382" r:id="rId49"/>
    <p:sldId id="383" r:id="rId50"/>
    <p:sldId id="384" r:id="rId51"/>
    <p:sldId id="385" r:id="rId52"/>
    <p:sldId id="386" r:id="rId53"/>
    <p:sldId id="387" r:id="rId54"/>
    <p:sldId id="388" r:id="rId55"/>
    <p:sldId id="389" r:id="rId56"/>
    <p:sldId id="390" r:id="rId57"/>
    <p:sldId id="391" r:id="rId58"/>
    <p:sldId id="392" r:id="rId59"/>
    <p:sldId id="393" r:id="rId60"/>
    <p:sldId id="394" r:id="rId61"/>
    <p:sldId id="395" r:id="rId62"/>
    <p:sldId id="396" r:id="rId63"/>
    <p:sldId id="397" r:id="rId64"/>
    <p:sldId id="398" r:id="rId65"/>
    <p:sldId id="399" r:id="rId66"/>
    <p:sldId id="400" r:id="rId67"/>
    <p:sldId id="401" r:id="rId68"/>
    <p:sldId id="402" r:id="rId69"/>
    <p:sldId id="403" r:id="rId70"/>
    <p:sldId id="405" r:id="rId71"/>
    <p:sldId id="404" r:id="rId72"/>
    <p:sldId id="406" r:id="rId73"/>
    <p:sldId id="407" r:id="rId74"/>
    <p:sldId id="408" r:id="rId75"/>
    <p:sldId id="409" r:id="rId76"/>
    <p:sldId id="410" r:id="rId77"/>
    <p:sldId id="412" r:id="rId78"/>
    <p:sldId id="413" r:id="rId79"/>
    <p:sldId id="411" r:id="rId80"/>
    <p:sldId id="414" r:id="rId81"/>
    <p:sldId id="415" r:id="rId82"/>
    <p:sldId id="416" r:id="rId83"/>
    <p:sldId id="340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4C34"/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87" autoAdjust="0"/>
  </p:normalViewPr>
  <p:slideViewPr>
    <p:cSldViewPr snapToGrid="0">
      <p:cViewPr varScale="1">
        <p:scale>
          <a:sx n="85" d="100"/>
          <a:sy n="85" d="100"/>
        </p:scale>
        <p:origin x="366" y="96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viewProps" Target="view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theme" Target="theme/them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microsoft.com/office/2018/10/relationships/authors" Target="author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commentAuthors" Target="commentAuthor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10/6/2025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157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0.e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b="1" dirty="0" err="1">
                <a:solidFill>
                  <a:schemeClr val="accent5">
                    <a:lumMod val="50000"/>
                  </a:schemeClr>
                </a:solidFill>
              </a:rPr>
              <a:t>Spondyloarthritis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793032-49C2-3F48-1598-312C9166606F}"/>
              </a:ext>
            </a:extLst>
          </p:cNvPr>
          <p:cNvSpPr txBox="1"/>
          <p:nvPr/>
        </p:nvSpPr>
        <p:spPr>
          <a:xfrm>
            <a:off x="1160206" y="980015"/>
            <a:ext cx="9606116" cy="452431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Aller" panose="020B0503030302020204" pitchFamily="34" charset="0"/>
              </a:rPr>
              <a:t>SpA</a:t>
            </a:r>
            <a:r>
              <a:rPr lang="en-US" sz="3600" b="1" dirty="0">
                <a:solidFill>
                  <a:srgbClr val="002060"/>
                </a:solidFill>
                <a:latin typeface="Aller" panose="020B0503030302020204" pitchFamily="34" charset="0"/>
              </a:rPr>
              <a:t> refers to a family of </a:t>
            </a:r>
            <a:r>
              <a:rPr lang="en-US" sz="3600" b="1" dirty="0">
                <a:solidFill>
                  <a:srgbClr val="204C34"/>
                </a:solidFill>
                <a:latin typeface="Aller" panose="020B0503030302020204" pitchFamily="34" charset="0"/>
              </a:rPr>
              <a:t>immune-mediated inflammatory arthritis</a:t>
            </a:r>
            <a:r>
              <a:rPr lang="en-US" sz="3600" b="1" dirty="0">
                <a:solidFill>
                  <a:srgbClr val="002060"/>
                </a:solidFill>
                <a:latin typeface="Aller" panose="020B0503030302020204" pitchFamily="34" charset="0"/>
              </a:rPr>
              <a:t> disorders that share many clinical, genetic, and pathologic characteristics. </a:t>
            </a:r>
          </a:p>
          <a:p>
            <a:r>
              <a:rPr lang="en-US" sz="3600" b="1" dirty="0">
                <a:solidFill>
                  <a:srgbClr val="0070C0"/>
                </a:solidFill>
                <a:latin typeface="Aller" panose="020B0503030302020204" pitchFamily="34" charset="0"/>
              </a:rPr>
              <a:t>Moll</a:t>
            </a:r>
            <a:r>
              <a:rPr lang="en-US" sz="3600" b="1" dirty="0">
                <a:solidFill>
                  <a:srgbClr val="002060"/>
                </a:solidFill>
                <a:latin typeface="Aller" panose="020B0503030302020204" pitchFamily="34" charset="0"/>
              </a:rPr>
              <a:t> and </a:t>
            </a:r>
            <a:r>
              <a:rPr lang="en-US" sz="3600" b="1" dirty="0">
                <a:solidFill>
                  <a:srgbClr val="0070C0"/>
                </a:solidFill>
                <a:latin typeface="Aller" panose="020B0503030302020204" pitchFamily="34" charset="0"/>
              </a:rPr>
              <a:t>Wright</a:t>
            </a:r>
            <a:r>
              <a:rPr lang="en-US" sz="3600" b="1" dirty="0">
                <a:solidFill>
                  <a:srgbClr val="002060"/>
                </a:solidFill>
                <a:latin typeface="Aller" panose="020B0503030302020204" pitchFamily="34" charset="0"/>
              </a:rPr>
              <a:t> are credited in recognizing these diseases in </a:t>
            </a:r>
            <a:r>
              <a:rPr lang="en-US" sz="3600" b="1" dirty="0">
                <a:solidFill>
                  <a:srgbClr val="0070C0"/>
                </a:solidFill>
                <a:latin typeface="Aller" panose="020B0503030302020204" pitchFamily="34" charset="0"/>
              </a:rPr>
              <a:t>1974</a:t>
            </a:r>
            <a:r>
              <a:rPr lang="en-US" sz="3600" b="1" dirty="0">
                <a:solidFill>
                  <a:srgbClr val="002060"/>
                </a:solidFill>
                <a:latin typeface="Aller" panose="020B0503030302020204" pitchFamily="34" charset="0"/>
              </a:rPr>
              <a:t> as distinct from RA, a well-recognized inflammatory arthritis at that time. </a:t>
            </a:r>
          </a:p>
        </p:txBody>
      </p:sp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F2C6C0-3385-A79E-1E21-B8423252B997}"/>
              </a:ext>
            </a:extLst>
          </p:cNvPr>
          <p:cNvSpPr txBox="1"/>
          <p:nvPr/>
        </p:nvSpPr>
        <p:spPr>
          <a:xfrm>
            <a:off x="1376517" y="2554295"/>
            <a:ext cx="9999406" cy="310854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While 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</a:rPr>
              <a:t>axial skeletal involvement 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is hinted at in the word “</a:t>
            </a:r>
            <a:r>
              <a:rPr lang="en-US" sz="2800" b="1" dirty="0" err="1">
                <a:solidFill>
                  <a:srgbClr val="0070C0"/>
                </a:solidFill>
                <a:latin typeface="Aptos" panose="020B0004020202020204" pitchFamily="34" charset="0"/>
              </a:rPr>
              <a:t>spondyloarthritis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,” it 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</a:rPr>
              <a:t>is not mandatory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. </a:t>
            </a:r>
          </a:p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The MSK manifestations of </a:t>
            </a:r>
            <a:r>
              <a:rPr lang="en-US" sz="2800" b="1" dirty="0" err="1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SpA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 include </a:t>
            </a:r>
            <a:r>
              <a:rPr lang="en-US" sz="2800" b="1" dirty="0">
                <a:solidFill>
                  <a:schemeClr val="accent4">
                    <a:lumMod val="25000"/>
                  </a:schemeClr>
                </a:solidFill>
                <a:latin typeface="Aptos" panose="020B0004020202020204" pitchFamily="34" charset="0"/>
              </a:rPr>
              <a:t>sacroiliitis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, inflammatory spinal lesions, </a:t>
            </a:r>
            <a:r>
              <a:rPr lang="en-US" sz="2800" b="1" dirty="0">
                <a:solidFill>
                  <a:schemeClr val="accent4">
                    <a:lumMod val="25000"/>
                  </a:schemeClr>
                </a:solidFill>
                <a:latin typeface="Aptos" panose="020B0004020202020204" pitchFamily="34" charset="0"/>
              </a:rPr>
              <a:t>peripheral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 inflammatory </a:t>
            </a:r>
            <a:r>
              <a:rPr lang="en-US" sz="2800" b="1" dirty="0">
                <a:solidFill>
                  <a:schemeClr val="accent4">
                    <a:lumMod val="25000"/>
                  </a:schemeClr>
                </a:solidFill>
                <a:latin typeface="Aptos" panose="020B0004020202020204" pitchFamily="34" charset="0"/>
              </a:rPr>
              <a:t>arthritis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2800" b="1" dirty="0">
                <a:solidFill>
                  <a:schemeClr val="accent4">
                    <a:lumMod val="25000"/>
                  </a:schemeClr>
                </a:solidFill>
                <a:latin typeface="Aptos" panose="020B0004020202020204" pitchFamily="34" charset="0"/>
              </a:rPr>
              <a:t>enthesitis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 (inflammation at the attachment of tendons and ligaments to the bones), </a:t>
            </a:r>
            <a:r>
              <a:rPr lang="en-US" sz="2800" b="1" dirty="0">
                <a:solidFill>
                  <a:schemeClr val="accent4">
                    <a:lumMod val="25000"/>
                  </a:schemeClr>
                </a:solidFill>
                <a:latin typeface="Aptos" panose="020B0004020202020204" pitchFamily="34" charset="0"/>
              </a:rPr>
              <a:t>tendonitis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2800" b="1" dirty="0">
                <a:solidFill>
                  <a:schemeClr val="accent4">
                    <a:lumMod val="25000"/>
                  </a:schemeClr>
                </a:solidFill>
                <a:latin typeface="Aptos" panose="020B0004020202020204" pitchFamily="34" charset="0"/>
              </a:rPr>
              <a:t>tenosynovitis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, and </a:t>
            </a:r>
            <a:r>
              <a:rPr lang="en-US" sz="2800" b="1" dirty="0">
                <a:solidFill>
                  <a:schemeClr val="accent4">
                    <a:lumMod val="25000"/>
                  </a:schemeClr>
                </a:solidFill>
                <a:latin typeface="Aptos" panose="020B0004020202020204" pitchFamily="34" charset="0"/>
              </a:rPr>
              <a:t>dactylitis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 (“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sausage digits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”). </a:t>
            </a:r>
          </a:p>
        </p:txBody>
      </p:sp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9045" y="954822"/>
            <a:ext cx="9024931" cy="4886632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3200" b="1" dirty="0">
              <a:latin typeface="Aptos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Other </a:t>
            </a:r>
            <a:r>
              <a:rPr lang="en-US" sz="4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manifestations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Uveitis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Skin psoriasis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IBD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(Crohn’s, or UC)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Absence of RF and nodules (to differentiate from RA)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Familial correlation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Association with the gene 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HLA -B27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Pipette over three glass jars">
            <a:extLst>
              <a:ext uri="{FF2B5EF4-FFF2-40B4-BE49-F238E27FC236}">
                <a16:creationId xmlns:a16="http://schemas.microsoft.com/office/drawing/2014/main" id="{363B2CE7-DE69-D368-9719-08D0C83ABC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264778" y="944217"/>
            <a:ext cx="3200400" cy="320040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BB2C53-A701-3628-5E25-99108C8DCF61}"/>
              </a:ext>
            </a:extLst>
          </p:cNvPr>
          <p:cNvSpPr txBox="1"/>
          <p:nvPr/>
        </p:nvSpPr>
        <p:spPr>
          <a:xfrm>
            <a:off x="4238292" y="1355432"/>
            <a:ext cx="7440186" cy="483209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04C34"/>
                </a:solidFill>
              </a:rPr>
              <a:t>The 2009 Assessment of SPA International Society (ASAS) classification criteria divided </a:t>
            </a:r>
            <a:r>
              <a:rPr lang="en-US" sz="2800" b="1" dirty="0" err="1">
                <a:solidFill>
                  <a:srgbClr val="204C34"/>
                </a:solidFill>
              </a:rPr>
              <a:t>SpA</a:t>
            </a:r>
            <a:r>
              <a:rPr lang="en-US" sz="2800" b="1" dirty="0">
                <a:solidFill>
                  <a:srgbClr val="204C34"/>
                </a:solidFill>
              </a:rPr>
              <a:t> under “</a:t>
            </a:r>
            <a:r>
              <a:rPr lang="en-US" sz="2800" b="1" dirty="0">
                <a:solidFill>
                  <a:srgbClr val="0070C0"/>
                </a:solidFill>
              </a:rPr>
              <a:t>axial” (</a:t>
            </a:r>
            <a:r>
              <a:rPr lang="en-US" sz="2800" b="1" dirty="0" err="1">
                <a:solidFill>
                  <a:srgbClr val="0070C0"/>
                </a:solidFill>
              </a:rPr>
              <a:t>axSpA</a:t>
            </a:r>
            <a:r>
              <a:rPr lang="en-US" sz="2800" b="1" dirty="0">
                <a:solidFill>
                  <a:srgbClr val="0070C0"/>
                </a:solidFill>
              </a:rPr>
              <a:t>) </a:t>
            </a:r>
            <a:r>
              <a:rPr lang="en-US" sz="2800" b="1" dirty="0">
                <a:solidFill>
                  <a:srgbClr val="204C34"/>
                </a:solidFill>
              </a:rPr>
              <a:t>and “peripheral” (</a:t>
            </a:r>
            <a:r>
              <a:rPr lang="en-US" sz="2800" b="1" dirty="0" err="1">
                <a:solidFill>
                  <a:srgbClr val="204C34"/>
                </a:solidFill>
              </a:rPr>
              <a:t>pSpA</a:t>
            </a:r>
            <a:r>
              <a:rPr lang="en-US" sz="2800" b="1" dirty="0">
                <a:solidFill>
                  <a:srgbClr val="204C34"/>
                </a:solidFill>
              </a:rPr>
              <a:t>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04C34"/>
                </a:solidFill>
              </a:rPr>
              <a:t>“Peripheral” </a:t>
            </a:r>
            <a:r>
              <a:rPr lang="en-US" sz="2800" b="1" dirty="0" err="1">
                <a:solidFill>
                  <a:srgbClr val="204C34"/>
                </a:solidFill>
              </a:rPr>
              <a:t>SpA</a:t>
            </a:r>
            <a:r>
              <a:rPr lang="en-US" sz="2800" b="1" dirty="0">
                <a:solidFill>
                  <a:srgbClr val="204C34"/>
                </a:solidFill>
              </a:rPr>
              <a:t> may seem a misnomer, but it simply indicates that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04C34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peripheral MSK </a:t>
            </a:r>
            <a:r>
              <a:rPr lang="en-US" sz="2800" b="1" dirty="0">
                <a:solidFill>
                  <a:srgbClr val="204C34"/>
                </a:solidFill>
              </a:rPr>
              <a:t>manifestations are predominant and </a:t>
            </a:r>
            <a:r>
              <a:rPr lang="en-US" sz="2800" b="1" dirty="0">
                <a:solidFill>
                  <a:srgbClr val="C00000"/>
                </a:solidFill>
              </a:rPr>
              <a:t>more troublesome </a:t>
            </a:r>
            <a:r>
              <a:rPr lang="en-US" sz="2800" b="1" dirty="0">
                <a:solidFill>
                  <a:srgbClr val="204C34"/>
                </a:solidFill>
              </a:rPr>
              <a:t>to the patient than the spinal involvement.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204C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9858FCE-28EC-145E-AF8D-D2180293CBF1}"/>
              </a:ext>
            </a:extLst>
          </p:cNvPr>
          <p:cNvSpPr txBox="1"/>
          <p:nvPr/>
        </p:nvSpPr>
        <p:spPr>
          <a:xfrm>
            <a:off x="1120879" y="1126074"/>
            <a:ext cx="9792928" cy="452431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 divided into radiographic (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r-</a:t>
            </a:r>
            <a:r>
              <a:rPr lang="en-US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also known as </a:t>
            </a:r>
            <a:r>
              <a:rPr lang="en-US" sz="2800" b="1" dirty="0" err="1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800" b="1" dirty="0" err="1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nonradiographic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nr-</a:t>
            </a:r>
            <a:r>
              <a:rPr lang="en-US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conditions included under </a:t>
            </a:r>
            <a:r>
              <a:rPr lang="en-US" sz="3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pSpA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PsA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arthritis associated with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IBD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undifferentiated </a:t>
            </a:r>
            <a:r>
              <a:rPr lang="en-US" sz="2800" b="1" dirty="0" err="1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where patients cannot be classified under any known categories.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Patients with </a:t>
            </a:r>
            <a:r>
              <a:rPr lang="en-US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can have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 MSK 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manifestations, and patients with </a:t>
            </a:r>
            <a:r>
              <a:rPr lang="en-US" sz="28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pSpA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have additional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axial 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skeletal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involvement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presentation or may develop it later in the course of their disease.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4C705E0-4016-2E16-7B42-065B9B3CB8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22F62-F8C7-A6AA-2A58-81018A734F7B}"/>
              </a:ext>
            </a:extLst>
          </p:cNvPr>
          <p:cNvSpPr txBox="1"/>
          <p:nvPr/>
        </p:nvSpPr>
        <p:spPr>
          <a:xfrm>
            <a:off x="2054942" y="2305615"/>
            <a:ext cx="8219768" cy="224676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conditions sometimes included under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SAPHO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(synovitis, acne, pustulosis, hyperostosis, and osteitis) syndrome,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acne-associated arthritis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arthritis associated with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hidradenitis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suppurativa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534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8666F28-2E37-8C88-DAF0-132DF4BA1F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273" y="1160666"/>
            <a:ext cx="9144000" cy="2985517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D2A8B-7D60-C0BB-9F38-181AD8739E91}"/>
              </a:ext>
            </a:extLst>
          </p:cNvPr>
          <p:cNvSpPr txBox="1"/>
          <p:nvPr/>
        </p:nvSpPr>
        <p:spPr>
          <a:xfrm>
            <a:off x="1251611" y="1823313"/>
            <a:ext cx="9468464" cy="397031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 patterns include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asymmetric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mono- or oligoarticular 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( 4 or less joints) inflammatory arthritis of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joints 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limb 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(usually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knee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with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enthesitis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tendonitis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dactylitis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contrasts with RA, where polyarticular symmetric involvement of  MCP / PIP  joints predominates. </a:t>
            </a:r>
          </a:p>
          <a:p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cumulative prevalence of all conditions under </a:t>
            </a:r>
            <a:r>
              <a:rPr lang="en-US" sz="2800" b="1" dirty="0" err="1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800" b="1" dirty="0">
                <a:solidFill>
                  <a:srgbClr val="204C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2–3% of the population, much more common than RA.</a:t>
            </a:r>
          </a:p>
        </p:txBody>
      </p:sp>
    </p:spTree>
    <p:extLst>
      <p:ext uri="{BB962C8B-B14F-4D97-AF65-F5344CB8AC3E}">
        <p14:creationId xmlns:p14="http://schemas.microsoft.com/office/powerpoint/2010/main" val="3802723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8BD88CC-29B3-258E-545F-677B0656B2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3895344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FDE2C3-B534-ED80-4450-B4D6EC3BF554}"/>
              </a:ext>
            </a:extLst>
          </p:cNvPr>
          <p:cNvSpPr txBox="1"/>
          <p:nvPr/>
        </p:nvSpPr>
        <p:spPr>
          <a:xfrm>
            <a:off x="1171138" y="486090"/>
            <a:ext cx="9736836" cy="655564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prototypic chronic immune-mediated inflammatory disease that couples inflammation to structural damage.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unique feature of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that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inflammation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induced bone loss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coexists with pathologic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bone formation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which occurs at specific sites in the skeleton.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sites include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only the SIJ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also the anterior spinal ligaments or at entheses in the peripheral skeleton.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uncontrolled,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ultimately lead to a complete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ankylosis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SIJs and the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spine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termed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bamboo spine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75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265951D-EBCE-4704-0E6E-38818F3AF1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E80B38-AC3C-59F1-95A0-DBA3CE8CB5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99"/>
          <a:stretch>
            <a:fillRect/>
          </a:stretch>
        </p:blipFill>
        <p:spPr>
          <a:xfrm>
            <a:off x="956085" y="0"/>
            <a:ext cx="4006850" cy="65974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52972AB-3028-9F4D-2141-F59CE486867F}"/>
              </a:ext>
            </a:extLst>
          </p:cNvPr>
          <p:cNvSpPr txBox="1"/>
          <p:nvPr/>
        </p:nvSpPr>
        <p:spPr>
          <a:xfrm>
            <a:off x="5473822" y="148991"/>
            <a:ext cx="6718178" cy="563231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2400" b="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r>
              <a:rPr lang="en-US" sz="2400" b="1" dirty="0">
                <a:solidFill>
                  <a:srgbClr val="002060"/>
                </a:solidFill>
                <a:latin typeface="Aptos" panose="020B0004020202020204"/>
              </a:rPr>
              <a:t>In </a:t>
            </a:r>
            <a:r>
              <a:rPr lang="en-US" sz="2400" b="1" dirty="0">
                <a:solidFill>
                  <a:srgbClr val="0070C0"/>
                </a:solidFill>
                <a:latin typeface="Aptos" panose="020B0004020202020204"/>
              </a:rPr>
              <a:t>genetically predisposed individuals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/>
              </a:rPr>
              <a:t>, </a:t>
            </a:r>
            <a:r>
              <a:rPr lang="en-US" sz="2400" b="1" dirty="0" err="1">
                <a:solidFill>
                  <a:srgbClr val="002060"/>
                </a:solidFill>
                <a:latin typeface="Aptos" panose="020B0004020202020204"/>
              </a:rPr>
              <a:t>SpA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/>
              </a:rPr>
              <a:t> may arise from </a:t>
            </a:r>
            <a:r>
              <a:rPr lang="en-US" sz="2400" b="1" dirty="0">
                <a:solidFill>
                  <a:srgbClr val="0070C0"/>
                </a:solidFill>
                <a:latin typeface="Aptos" panose="020B0004020202020204"/>
              </a:rPr>
              <a:t>mechanical stress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/>
              </a:rPr>
              <a:t>, a well-known disease precipitator in </a:t>
            </a:r>
            <a:r>
              <a:rPr lang="en-US" sz="2400" b="1" dirty="0">
                <a:solidFill>
                  <a:srgbClr val="0070C0"/>
                </a:solidFill>
                <a:latin typeface="Aptos" panose="020B0004020202020204"/>
              </a:rPr>
              <a:t>PsA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/>
              </a:rPr>
              <a:t> and </a:t>
            </a:r>
            <a:r>
              <a:rPr lang="en-US" sz="2400" b="1" dirty="0">
                <a:solidFill>
                  <a:srgbClr val="0070C0"/>
                </a:solidFill>
                <a:latin typeface="Aptos" panose="020B0004020202020204"/>
              </a:rPr>
              <a:t>axial </a:t>
            </a:r>
            <a:r>
              <a:rPr lang="en-US" sz="2400" b="1" dirty="0" err="1">
                <a:solidFill>
                  <a:srgbClr val="0070C0"/>
                </a:solidFill>
                <a:latin typeface="Aptos" panose="020B0004020202020204"/>
              </a:rPr>
              <a:t>SpA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/>
              </a:rPr>
              <a:t>, or by altered host-microbial interplay at inner (gut, urogenital tract) or outer (skin) surfaces culminating in a cytokine crosstalk characterized by both 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ptos" panose="020B0004020202020204"/>
              </a:rPr>
              <a:t>TNF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/>
              </a:rPr>
              <a:t>- and 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ptos" panose="020B0004020202020204"/>
              </a:rPr>
              <a:t>IL-17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/>
              </a:rPr>
              <a:t>-driven immune responses. Drivers of disease include cells of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ptos" panose="020B0004020202020204"/>
              </a:rPr>
              <a:t>both innate 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/>
              </a:rPr>
              <a:t>and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ptos" panose="020B0004020202020204"/>
              </a:rPr>
              <a:t>adaptive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/>
              </a:rPr>
              <a:t> immune system, along with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ptos" panose="020B0004020202020204"/>
              </a:rPr>
              <a:t>tissue-resident stromal cells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/>
              </a:rPr>
              <a:t>. Different disease domains (gut, spin, peripheral joints, and skin) harbor overlapping (e.g., TNF-</a:t>
            </a:r>
            <a:r>
              <a:rPr lang="el-GR" sz="2400" b="1" dirty="0">
                <a:solidFill>
                  <a:srgbClr val="002060"/>
                </a:solidFill>
                <a:latin typeface="Aptos" panose="020B0004020202020204" pitchFamily="34" charset="0"/>
              </a:rPr>
              <a:t>α) </a:t>
            </a:r>
            <a:r>
              <a:rPr lang="en-US" sz="2400" b="1" dirty="0">
                <a:solidFill>
                  <a:srgbClr val="002060"/>
                </a:solidFill>
                <a:latin typeface="Aptos" panose="020B0004020202020204"/>
              </a:rPr>
              <a:t>but also distinct (e.g., IL-17, IL-23) signature cytokines, which has major therapeutic implications. JAK inhibitors, which interfere with signaling of several cytokines, are effective across all domains.</a:t>
            </a:r>
          </a:p>
          <a:p>
            <a:endParaRPr lang="en-US" sz="2400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EC07FB-C1EA-8520-5796-9E980DE9D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586" y="722376"/>
            <a:ext cx="8705843" cy="64013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27FB99-E0FB-B818-B89D-6B325D429F02}"/>
              </a:ext>
            </a:extLst>
          </p:cNvPr>
          <p:cNvSpPr txBox="1"/>
          <p:nvPr/>
        </p:nvSpPr>
        <p:spPr>
          <a:xfrm>
            <a:off x="859536" y="1551122"/>
            <a:ext cx="10908792" cy="464742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Regardless of the route of disease initiation, several common effector pathways have emerged, with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TNF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IL-17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representing signature cytokines in the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immunologic basis of 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impact of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TNF-α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a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effector pathway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acts downstream in the inflammatory process has been long recognized given its broad therapeutic efficacy across all disease domains (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gut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enthesis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skin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eye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spine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TNF-α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an important activator and product of macrophages that stimulates cytokine production in immune cells and activates fibroblasts.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TNF-α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can also be made by neutrophils and activated T cells in the inflamed synovium, enthesis, and intestine.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activating osteoclasts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it promotes inflammation-induced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bone loss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bone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erosions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620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04C9117-78E9-024D-CB35-BF9C68CD7E90}"/>
              </a:ext>
            </a:extLst>
          </p:cNvPr>
          <p:cNvSpPr txBox="1"/>
          <p:nvPr/>
        </p:nvSpPr>
        <p:spPr>
          <a:xfrm>
            <a:off x="1325880" y="1261194"/>
            <a:ext cx="9692640" cy="483209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 though </a:t>
            </a:r>
            <a:r>
              <a:rPr lang="en-US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IBD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share a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 genetic predisposition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IL-23R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polymorphisms, the two disorders differ substantially in their cytokine dependency.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IL-17A blockade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effective in </a:t>
            </a:r>
            <a:r>
              <a:rPr lang="en-US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whereas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IL-23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inhibition does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Conversely,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IL-23 blockers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approved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IBD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but agents targeting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IL-17A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contraindicated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active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IBD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due to the barrier protective roles of IL-17.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IL-23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IL-17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inhibitors both appear to be effective.</a:t>
            </a:r>
          </a:p>
        </p:txBody>
      </p:sp>
    </p:spTree>
    <p:extLst>
      <p:ext uri="{BB962C8B-B14F-4D97-AF65-F5344CB8AC3E}">
        <p14:creationId xmlns:p14="http://schemas.microsoft.com/office/powerpoint/2010/main" val="474877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707923"/>
            <a:ext cx="9821955" cy="1303757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t" anchorCtr="0"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      GENETIC ASSOCIATIONS HLA-B27&amp;   BEYOND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39"/>
            <a:ext cx="4663440" cy="4210173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HLA-B27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MHC class I allele that forms the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strongest genetic risk factor for </a:t>
            </a:r>
            <a:r>
              <a:rPr lang="en-US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specifically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MHC class I molecules are expressed on the surface of nucleate cells and can present peptides to CD8+ T cells.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4210172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HLA-B27 is present in 85–90% of the patients with r-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and 50–90% in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nr-axSpA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in contrast to about 5% of the healthy Caucasian population.</a:t>
            </a:r>
            <a:endParaRPr lang="en-US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93AD96D-BA57-0E95-CEAE-286607BAEFCF}"/>
              </a:ext>
            </a:extLst>
          </p:cNvPr>
          <p:cNvSpPr txBox="1"/>
          <p:nvPr/>
        </p:nvSpPr>
        <p:spPr>
          <a:xfrm>
            <a:off x="2472359" y="1166842"/>
            <a:ext cx="7576102" cy="501675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Despite the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genetic association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 HLA-B27 and AS, only a minority of HLA-B27 positive subjects develop disease.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addition, the risk of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developing AS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HLA-B27 positive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first-degree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relatives of AS patients is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20%.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indicates that additional factors are needed to induce disease</a:t>
            </a:r>
          </a:p>
        </p:txBody>
      </p:sp>
    </p:spTree>
    <p:extLst>
      <p:ext uri="{BB962C8B-B14F-4D97-AF65-F5344CB8AC3E}">
        <p14:creationId xmlns:p14="http://schemas.microsoft.com/office/powerpoint/2010/main" val="1724377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C2866-4489-D7FC-969D-B25D80779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10487-986F-FE8F-1B3A-4590CB9467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1097280"/>
            <a:ext cx="10021824" cy="5376672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Germ-free HLA-B27 transgenic rats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 to develop </a:t>
            </a:r>
            <a:r>
              <a:rPr lang="en-US" sz="2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suggesting a crucial pathogenic role for intestinal microbiota.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humans, microbiome profiling in stool and biopsy samples of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HLA-B27+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individuals found that HLA-B27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affects the gut microbiome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even in the absence of disease.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This supports the concept that in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HLAB27+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individuals,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intestinal dysbiosis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occurs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the onset of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manifestations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may contribute to the risk of disease.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Earlier research suggested that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HLA-B27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promote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intracellular survival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persistence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pathogens such as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Chlamydia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trachomatis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monocytes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which could travel to joints and promote synovial inflammation. </a:t>
            </a:r>
          </a:p>
        </p:txBody>
      </p:sp>
    </p:spTree>
    <p:extLst>
      <p:ext uri="{BB962C8B-B14F-4D97-AF65-F5344CB8AC3E}">
        <p14:creationId xmlns:p14="http://schemas.microsoft.com/office/powerpoint/2010/main" val="1723882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CDD818-E6A2-BBF4-8341-D8DF8251E626}"/>
              </a:ext>
            </a:extLst>
          </p:cNvPr>
          <p:cNvSpPr txBox="1"/>
          <p:nvPr/>
        </p:nvSpPr>
        <p:spPr>
          <a:xfrm>
            <a:off x="1533939" y="1185406"/>
            <a:ext cx="9124121" cy="39703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Because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affects seemingly distinct tissues (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spine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 joints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enthesis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anterior eye chamber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intestine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it has been a challenge to seek a common denominator between these different organs.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main mechanisms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currently under consideration: the role of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intestinal microbiota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following a loss of barrier integrity and an aberrant response to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 stress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1390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B7FE-DF34-3BFA-A829-CCF19BC15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204" y="252454"/>
            <a:ext cx="10294623" cy="9144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 Stress as Gateway to Joint Disease in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endPara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443FE-7A0E-7BFB-9DB2-6743D78C0A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204" y="1256306"/>
            <a:ext cx="10294622" cy="550826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entheses in 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inflammatory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tissues, and patients can present with both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axial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 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entheseal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inflammation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patients and in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individuals without inflammatory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conditions,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 stress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entheses may lead to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microdamage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leads to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immune activation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tissue repair. 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importance of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 strain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pathophysiology of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enthesitis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supported by observations in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animal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models.</a:t>
            </a:r>
          </a:p>
          <a:p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Enthesitis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occurs more often in the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limbs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which are subject to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mechanical strain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In patients with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exposure to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labor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 related to more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structural damage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mouse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models,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 strain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 shown to be causally related to development of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enthesitis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-related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bone formation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mechanisms that support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chronicity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inflammation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512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8302D-22AD-4121-46B6-D663D5F26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9" y="1053548"/>
            <a:ext cx="9652883" cy="4890052"/>
          </a:xfrm>
        </p:spPr>
        <p:txBody>
          <a:bodyPr>
            <a:normAutofit fontScale="92500"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Responses to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 stress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physiologic and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self-limited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but they appear to be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enhanced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prolonged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 reason for this is unclear, but this may be influenced by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genetic factors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and/or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impaired intestinal barrier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function. </a:t>
            </a:r>
          </a:p>
          <a:p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Chronic </a:t>
            </a:r>
            <a:r>
              <a:rPr lang="en-US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entheseal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inflammation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also leads to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excessive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bone responses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associated with osteoblast differentiation initiated by 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PG 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IL-17-A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-F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IL-22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followed by activation of downstream 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bone morphogenic proteins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Wnt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Prs, which are thought to play a role in pathological </a:t>
            </a:r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bone formation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This culminates in the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generation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bony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spurs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vertebral bodies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SIJ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joints, eventually leading to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ankylosis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62777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719AA-6C57-7F64-19A1-4F3355A14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061" y="365760"/>
            <a:ext cx="9821955" cy="9144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Barrier Integrity Loss and the Intestinal Microbiota in </a:t>
            </a:r>
            <a:r>
              <a:rPr lang="en-US" b="1" dirty="0" err="1">
                <a:solidFill>
                  <a:srgbClr val="002060"/>
                </a:solidFill>
                <a:latin typeface="Aptos" panose="020B0004020202020204" pitchFamily="34" charset="0"/>
              </a:rPr>
              <a:t>SpA</a:t>
            </a:r>
            <a:endParaRPr lang="en-US" b="1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1725F-D09A-15A1-BDAA-B49BB66D34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2368" y="1280160"/>
            <a:ext cx="9756648" cy="477316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view of the link between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gut inflammation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much attention has been focused on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barrier integrity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in the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intestine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 role of the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intestinal microbiota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supporting this mechanism has been the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of 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following an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infectious GE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Salmonella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typhimurium,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Shigella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enteritidis,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Yersinia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enterocolitica, or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Campylobacter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enteritidis.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Studies have highlighted the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of barrier integrity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which may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facilitate translocation of bacteria and microbial peptides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can elicit an immune response. 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microbiome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shaped by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genetic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environmental factors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Changes in diversity and composition of the gut microbiome have been identified in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pinpointing an intestinal dysbiosis that is similar to patients with IBD.</a:t>
            </a:r>
          </a:p>
        </p:txBody>
      </p:sp>
    </p:spTree>
    <p:extLst>
      <p:ext uri="{BB962C8B-B14F-4D97-AF65-F5344CB8AC3E}">
        <p14:creationId xmlns:p14="http://schemas.microsoft.com/office/powerpoint/2010/main" val="2025090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5C4F1-9457-4A65-9612-E569F584AA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576072"/>
            <a:ext cx="9482328" cy="4946904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n-US" sz="36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r>
              <a:rPr lang="en-US" sz="3600" dirty="0">
                <a:solidFill>
                  <a:srgbClr val="002060"/>
                </a:solidFill>
                <a:latin typeface="Aptos" panose="020B0004020202020204" pitchFamily="34" charset="0"/>
              </a:rPr>
              <a:t>While </a:t>
            </a:r>
            <a:r>
              <a:rPr lang="en-US" sz="3600" b="1" dirty="0">
                <a:solidFill>
                  <a:srgbClr val="002060"/>
                </a:solidFill>
                <a:latin typeface="Aptos" panose="020B0004020202020204" pitchFamily="34" charset="0"/>
              </a:rPr>
              <a:t>most information </a:t>
            </a:r>
            <a:r>
              <a:rPr lang="en-US" sz="3600" dirty="0">
                <a:solidFill>
                  <a:srgbClr val="002060"/>
                </a:solidFill>
                <a:latin typeface="Aptos" panose="020B0004020202020204" pitchFamily="34" charset="0"/>
              </a:rPr>
              <a:t>on host-microbial interplay in </a:t>
            </a:r>
            <a:r>
              <a:rPr lang="en-US" sz="3600" dirty="0" err="1">
                <a:solidFill>
                  <a:srgbClr val="002060"/>
                </a:solidFill>
                <a:latin typeface="Aptos" panose="020B0004020202020204" pitchFamily="34" charset="0"/>
              </a:rPr>
              <a:t>SpA</a:t>
            </a:r>
            <a:r>
              <a:rPr lang="en-US" sz="3600" dirty="0">
                <a:solidFill>
                  <a:srgbClr val="002060"/>
                </a:solidFill>
                <a:latin typeface="Aptos" panose="020B0004020202020204" pitchFamily="34" charset="0"/>
              </a:rPr>
              <a:t> relates to the </a:t>
            </a:r>
            <a:r>
              <a:rPr lang="en-US" sz="3600" b="1" dirty="0">
                <a:solidFill>
                  <a:srgbClr val="002060"/>
                </a:solidFill>
                <a:latin typeface="Aptos" panose="020B0004020202020204" pitchFamily="34" charset="0"/>
              </a:rPr>
              <a:t>intestine</a:t>
            </a:r>
            <a:r>
              <a:rPr lang="en-US" sz="3600" dirty="0">
                <a:solidFill>
                  <a:srgbClr val="002060"/>
                </a:solidFill>
                <a:latin typeface="Aptos" panose="020B0004020202020204" pitchFamily="34" charset="0"/>
              </a:rPr>
              <a:t>, other </a:t>
            </a:r>
            <a:r>
              <a:rPr lang="en-US" sz="3600" b="1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mucosal surfaces </a:t>
            </a:r>
            <a:r>
              <a:rPr lang="en-US" sz="3600" dirty="0">
                <a:solidFill>
                  <a:srgbClr val="002060"/>
                </a:solidFill>
                <a:latin typeface="Aptos" panose="020B0004020202020204" pitchFamily="34" charset="0"/>
              </a:rPr>
              <a:t>and particularly the </a:t>
            </a:r>
            <a:r>
              <a:rPr lang="en-US" sz="3600" b="1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UGT</a:t>
            </a:r>
            <a:r>
              <a:rPr lang="en-US" sz="3600" dirty="0">
                <a:solidFill>
                  <a:srgbClr val="002060"/>
                </a:solidFill>
                <a:latin typeface="Aptos" panose="020B0004020202020204" pitchFamily="34" charset="0"/>
              </a:rPr>
              <a:t>(e.g., Chlamydia) may serve as an </a:t>
            </a:r>
            <a:r>
              <a:rPr lang="en-US" sz="3600" b="1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entry route </a:t>
            </a:r>
            <a:r>
              <a:rPr lang="en-US" sz="3600" dirty="0">
                <a:solidFill>
                  <a:srgbClr val="002060"/>
                </a:solidFill>
                <a:latin typeface="Aptos" panose="020B0004020202020204" pitchFamily="34" charset="0"/>
              </a:rPr>
              <a:t>for pathogens to instigate the onset of </a:t>
            </a:r>
            <a:r>
              <a:rPr lang="en-US" sz="3600" dirty="0" err="1">
                <a:solidFill>
                  <a:srgbClr val="002060"/>
                </a:solidFill>
                <a:latin typeface="Aptos" panose="020B0004020202020204" pitchFamily="34" charset="0"/>
              </a:rPr>
              <a:t>SpA</a:t>
            </a:r>
            <a:r>
              <a:rPr lang="en-US" sz="3600" dirty="0">
                <a:solidFill>
                  <a:srgbClr val="002060"/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6392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B136A-228C-8BCE-2E71-0D623381D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3104" y="765710"/>
            <a:ext cx="9765792" cy="5605272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Aptos" panose="020B0004020202020204" pitchFamily="34" charset="0"/>
              </a:rPr>
              <a:t>The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skin</a:t>
            </a:r>
            <a:r>
              <a:rPr lang="en-US" sz="2800" b="1" dirty="0">
                <a:solidFill>
                  <a:srgbClr val="002060"/>
                </a:solidFill>
                <a:latin typeface="Aptos" panose="020B0004020202020204" pitchFamily="34" charset="0"/>
              </a:rPr>
              <a:t>, as the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outer barrier </a:t>
            </a:r>
            <a:r>
              <a:rPr lang="en-US" sz="2800" b="1" dirty="0">
                <a:solidFill>
                  <a:srgbClr val="002060"/>
                </a:solidFill>
                <a:latin typeface="Aptos" panose="020B0004020202020204" pitchFamily="34" charset="0"/>
              </a:rPr>
              <a:t>of the body, is also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vulnerable</a:t>
            </a:r>
            <a:r>
              <a:rPr lang="en-US" sz="2800" b="1" dirty="0">
                <a:solidFill>
                  <a:srgbClr val="002060"/>
                </a:solidFill>
                <a:latin typeface="Aptos" panose="020B0004020202020204" pitchFamily="34" charset="0"/>
              </a:rPr>
              <a:t> to the development of immune-mediated inflammatory disease. </a:t>
            </a:r>
          </a:p>
          <a:p>
            <a:r>
              <a:rPr lang="en-US" sz="2800" b="1" dirty="0">
                <a:solidFill>
                  <a:srgbClr val="002060"/>
                </a:solidFill>
                <a:latin typeface="Aptos" panose="020B0004020202020204" pitchFamily="34" charset="0"/>
              </a:rPr>
              <a:t>Like the inner barriers of the intestines and joints, the 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Aptos" panose="020B0004020202020204" pitchFamily="34" charset="0"/>
              </a:rPr>
              <a:t>skin plays a key role in preserving tissue homeostasis </a:t>
            </a:r>
            <a:r>
              <a:rPr lang="en-US" sz="2800" b="1" dirty="0">
                <a:solidFill>
                  <a:srgbClr val="002060"/>
                </a:solidFill>
                <a:latin typeface="Aptos" panose="020B0004020202020204" pitchFamily="34" charset="0"/>
              </a:rPr>
              <a:t>at a site exposed to microbial, chemical, and mechanical challenges. </a:t>
            </a:r>
          </a:p>
          <a:p>
            <a:r>
              <a:rPr lang="en-US" sz="2800" b="1" dirty="0">
                <a:solidFill>
                  <a:srgbClr val="002060"/>
                </a:solidFill>
                <a:latin typeface="Aptos" panose="020B0004020202020204" pitchFamily="34" charset="0"/>
              </a:rPr>
              <a:t>Alterations in the cutaneous microbiome of patients with psoriasis and PsA have been described with striking similarities between non-lesional and lesional skin. However, the </a:t>
            </a:r>
            <a:r>
              <a:rPr lang="en-US" sz="2800" b="1" dirty="0">
                <a:solidFill>
                  <a:srgbClr val="0070C0"/>
                </a:solidFill>
                <a:latin typeface="Aptos" panose="020B0004020202020204" pitchFamily="34" charset="0"/>
              </a:rPr>
              <a:t>functional impact of skin microbiota on the disease trajectory is still ill defined</a:t>
            </a:r>
            <a:r>
              <a:rPr lang="en-US" sz="2800" b="1" dirty="0">
                <a:solidFill>
                  <a:srgbClr val="002060"/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3921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84D70-8360-8399-E423-8AFAFD77D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6769" y="0"/>
            <a:ext cx="10569165" cy="6495344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chronic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immune-mediated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inflammatory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disorder predominantly involving the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axial skeleton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(SIJs and the spine) and also the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 skeleton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axial skeleton is always involved, and involvement of the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 joints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occurs in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~30–40%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patients. 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historically considered “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 joints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,” are the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 spinal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joints affected.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Enthesitis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axial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skeleton is a common feature, but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dactylitis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relatively rare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Extraarticular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manifestations include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psoriasis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acute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anterior uveitis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IBD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patients with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experience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gradual spinal bony fusion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several years, which leads to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reduced spine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neck flexibility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Despite these 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osteoproliferative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changes in the skeleton,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osteoporosis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common morbidity. </a:t>
            </a:r>
          </a:p>
          <a:p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significantly affects patients’ well-being, function, productivity, and health-related quality of life.</a:t>
            </a:r>
          </a:p>
          <a:p>
            <a:endParaRPr lang="en-US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705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14AF1A-1B73-1D91-5CCD-D27A03874D29}"/>
              </a:ext>
            </a:extLst>
          </p:cNvPr>
          <p:cNvSpPr txBox="1"/>
          <p:nvPr/>
        </p:nvSpPr>
        <p:spPr>
          <a:xfrm>
            <a:off x="1216152" y="811566"/>
            <a:ext cx="9390888" cy="440120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divided into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r-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(also called AS) and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nr-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 difference based on the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presence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absence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definitive sacroiliitis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radiographs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Definitive sacroiliitis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is defined by the modified New York criteria as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 2 bilateral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 3 or 4 unilateral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bilateral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Patients with sacroiliitis of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grade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classified as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nr-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 the differentiation between r-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nr-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based on the degree of sacroiliitis, it is open to disagreements even between trained MSK radiologists.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interreader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reliability as measured by the kappa statistic is between 0.35 and 0.45.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nr-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r-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have the same clinical features and share similar disease burden, though in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late-stage r-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fusion of spine and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involvement can add to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loss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82299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7AEA2DA-CC06-7749-DCE0-B02F9653D6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934589"/>
              </p:ext>
            </p:extLst>
          </p:nvPr>
        </p:nvGraphicFramePr>
        <p:xfrm>
          <a:off x="1341120" y="1490472"/>
          <a:ext cx="9509760" cy="7370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Acrobat Document" r:id="rId3" imgW="4663262" imgH="6034723" progId="AcroExch.Document.DC">
                  <p:embed/>
                </p:oleObj>
              </mc:Choice>
              <mc:Fallback>
                <p:oleObj name="Acrobat Document" r:id="rId3" imgW="4663262" imgH="6034723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41120" y="1490472"/>
                        <a:ext cx="9509760" cy="7370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1471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2548E0-0F3A-532E-FF8B-8389C446008F}"/>
              </a:ext>
            </a:extLst>
          </p:cNvPr>
          <p:cNvSpPr txBox="1"/>
          <p:nvPr/>
        </p:nvSpPr>
        <p:spPr>
          <a:xfrm>
            <a:off x="1391412" y="1425786"/>
            <a:ext cx="9409176" cy="378565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M/F ratio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2:1 for r-</a:t>
            </a:r>
            <a:r>
              <a:rPr lang="en-US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1:1 for nr-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population prevalence of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depends on the prevalence of HLA-B27 in that geographic region.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Europe,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HLA-B27 frequency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population increases from south to north, and so does the prevalence of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prevalence of HLA-B27 in Spain and Norway is 7 and 9%, respectively, and the prevalence of AS and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these two countries is 0.1 and 0.56%</a:t>
            </a:r>
          </a:p>
          <a:p>
            <a:endParaRPr lang="en-US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684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06D55-870A-AE70-9BE3-7D958225E686}"/>
              </a:ext>
            </a:extLst>
          </p:cNvPr>
          <p:cNvSpPr txBox="1"/>
          <p:nvPr/>
        </p:nvSpPr>
        <p:spPr>
          <a:xfrm>
            <a:off x="934212" y="582067"/>
            <a:ext cx="9939528" cy="655564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Aptos" panose="020B0004020202020204" pitchFamily="34" charset="0"/>
              </a:rPr>
              <a:t>CLINICAL MANIFESTATIONS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common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manifestation of </a:t>
            </a:r>
            <a:r>
              <a:rPr lang="en-US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back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buttock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pain, which starts before the age of 40–45 years, usually in the 20s to 30s.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 characteristics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this back pain include any combination of the following: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insidious onset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chronicity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(&gt;3 m duration),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 of onset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45 ,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 with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no improvement with rest,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worse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back pain in the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half of the night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improvement after getting out of bed and walking around, and prolonged (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 &gt;30 min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 pain with these characteristics is termed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IBP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differentiate it from the common “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 back pain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35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E657EBE-DA40-4E26-F098-0E5D300838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5884202"/>
              </p:ext>
            </p:extLst>
          </p:nvPr>
        </p:nvGraphicFramePr>
        <p:xfrm>
          <a:off x="1230742" y="1325880"/>
          <a:ext cx="9730515" cy="7677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Acrobat Document" r:id="rId3" imgW="4663262" imgH="6034723" progId="AcroExch.Document.DC">
                  <p:embed/>
                </p:oleObj>
              </mc:Choice>
              <mc:Fallback>
                <p:oleObj name="Acrobat Document" r:id="rId3" imgW="4663262" imgH="6034723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0742" y="1325880"/>
                        <a:ext cx="9730515" cy="76775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4032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0F9BB-A559-E9E6-37C1-EE2C9C48D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7656" y="228599"/>
            <a:ext cx="10076688" cy="6241774"/>
          </a:xfr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 arthritis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seen in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30–40%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patients with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Typically, this is an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asymmetric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oligoarticular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inflammatory arthritis involving the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joints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extremities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rarely the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joints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feet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Hip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involvement, presenting as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in the groin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radiation to medial thigh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the knee, is common and is associated with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 functional impairment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Enthesitis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manifestation of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Dactylitis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an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uncommon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manifestation of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Persistent axial inflammation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lead to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bony fusion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SIJ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apophyseal joints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development of 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syndesmophytes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osteoproliferation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 outer fibers of the annulus fibrosus of the intervertebral disks.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These bony changes lead to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 of spinal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including 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neck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mobility in all directions and are a major cause of significant functional impairment in late stages of the disease. </a:t>
            </a:r>
          </a:p>
          <a:p>
            <a:endParaRPr lang="en-US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85B998-9CCB-2EDB-0A67-5D42C58FCA14}"/>
              </a:ext>
            </a:extLst>
          </p:cNvPr>
          <p:cNvSpPr txBox="1"/>
          <p:nvPr/>
        </p:nvSpPr>
        <p:spPr>
          <a:xfrm>
            <a:off x="1261872" y="1589264"/>
            <a:ext cx="10040112" cy="32624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Enthesitis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may present as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heel pain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(plantar fasciitis,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Achilles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tendon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insertion pain),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chest wall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pain,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intercostal muscle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insertions,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medial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or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lateral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epicondylitis,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quadriceps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or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patellar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tendon insertion pain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around knees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, or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pelvic rim pain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.</a:t>
            </a:r>
          </a:p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8677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700BB9-D859-BF20-33ED-C4033CF1FA4C}"/>
              </a:ext>
            </a:extLst>
          </p:cNvPr>
          <p:cNvSpPr txBox="1"/>
          <p:nvPr/>
        </p:nvSpPr>
        <p:spPr>
          <a:xfrm>
            <a:off x="670560" y="363915"/>
            <a:ext cx="11521440" cy="59708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 MSK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manifestations of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such as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Pso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IBD&amp;  acute anterior uveitis, can also be the presenting symptom of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some patients, and such patients may first present to a dermatologist, gastroenterologist, or an ophthalmologist.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Uveitis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common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 MSK manifestation, is seen in 40% of patients with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presents as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eye discomfort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followed by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redness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photophobia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miosis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typical phenotype of uveitis associated with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acute, anterior, unilateral, and episodic.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frank IBD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seen in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10%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histologic evidence of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subclinical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gut inflammation is seen in up to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patients.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Pso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seen in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Osteoporosis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can be present in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40%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2210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368B91D-FD19-3517-7461-89F01F6464B3}"/>
              </a:ext>
            </a:extLst>
          </p:cNvPr>
          <p:cNvSpPr txBox="1"/>
          <p:nvPr/>
        </p:nvSpPr>
        <p:spPr>
          <a:xfrm>
            <a:off x="1730883" y="1573197"/>
            <a:ext cx="8730234" cy="347787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can affect multiple organ systems.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two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renal manifestations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IgA nephropathy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which can present at any time in the disease course as microscopic hematuria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Nephrotic syndrome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secondary to renal (AA) amyloidosis, which is a late complication only seen after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prolonged uncontrolled inflammation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356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70E7AF8-B7D9-8A41-CCC1-8FEE382AE0E1}"/>
              </a:ext>
            </a:extLst>
          </p:cNvPr>
          <p:cNvSpPr txBox="1"/>
          <p:nvPr/>
        </p:nvSpPr>
        <p:spPr>
          <a:xfrm>
            <a:off x="1922526" y="1236423"/>
            <a:ext cx="8547354" cy="452431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Conduction abnormalities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(heart blocks) can be seen at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any stage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 the disease, whereas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aortic valve insufficiency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cauda equina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syndrome presenting as urinary hesitancy and/or saddle anesthesia are late complications.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Pulmonary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manifestations of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include apical fibrosis, cavitary lung lesion, or fibrotic parenchymal lesions.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Sleep apnea syndrome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and restrictive lung disease seen in late-stage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are mostly related to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osteoproliferative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structural changes of the cervical spine and rib cage.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1015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980CA1-FBDB-C4E5-9371-F17D70E8E401}"/>
              </a:ext>
            </a:extLst>
          </p:cNvPr>
          <p:cNvSpPr txBox="1"/>
          <p:nvPr/>
        </p:nvSpPr>
        <p:spPr>
          <a:xfrm>
            <a:off x="1785366" y="1228404"/>
            <a:ext cx="8949690" cy="4401205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course of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can be variable, with close to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patients progressing from </a:t>
            </a:r>
            <a:r>
              <a:rPr lang="en-US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nonradiographic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radiographic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over 20 Y and &lt;10% progressing to significant spinal involvement with bamboo spine.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factors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osteoproliferation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include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sex,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persistent inflammation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seen on MRI</a:t>
            </a:r>
          </a:p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of SIJs and spine,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CRP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syndesmophytes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presence of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HLA-B27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smoking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9807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DD439-425E-CAEE-61A1-EAE630788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22177" y="431358"/>
            <a:ext cx="8054275" cy="127817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320BA5-DA1A-4FF0-C2FC-1D6A1FD264BF}"/>
              </a:ext>
            </a:extLst>
          </p:cNvPr>
          <p:cNvSpPr txBox="1"/>
          <p:nvPr/>
        </p:nvSpPr>
        <p:spPr>
          <a:xfrm>
            <a:off x="1093304" y="654112"/>
            <a:ext cx="9819861" cy="538609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diagnostic delay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5–14 years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symptom onset of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reported in various parts of the world is mostly related to the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commonality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 back pain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 general population.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Traditionally, AS is thought to be a disease of males, and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 pain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enthesitis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women are commonly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mistaken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fibromyalgia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delays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diagnosis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females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further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prevalence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HLA-B27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nonwhite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populations also adds to the delay in diagnosis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4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9B805-B2B7-FF35-5EC4-F65C9647E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9673" y="894523"/>
            <a:ext cx="10076688" cy="5307494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diagnosis of </a:t>
            </a:r>
            <a:r>
              <a:rPr lang="en-US" sz="3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based on pattern recognition, R/O common causes for the symptoms, and clinical reasoning. </a:t>
            </a:r>
          </a:p>
          <a:p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elevated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inflammatory markers,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ESR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CRP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help in making the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these tests are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neither sensitive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(seen in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30–40%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patients with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 specific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3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104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488641-A625-853E-1D63-EBA08B5207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6321"/>
          <a:stretch>
            <a:fillRect/>
          </a:stretch>
        </p:blipFill>
        <p:spPr>
          <a:xfrm>
            <a:off x="2007705" y="119270"/>
            <a:ext cx="8746434" cy="666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8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B9F40-152B-9938-4F31-13861063E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914400"/>
            <a:ext cx="10076688" cy="5367528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Imaging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plays a very important role in the diagnosis of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AP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a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Ferguson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x-ray of the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pelvis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sufficient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image SIJs. </a:t>
            </a:r>
          </a:p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views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(e.g., oblique) of the SIJs add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little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making the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in addition, they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radiation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risk to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gonads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Radiographic features of sacroiliitis include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marginal sclerosis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erosions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narrowing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widening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joints, and in 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 stages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fusion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050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278FD8-21F2-07E2-9D77-8FD904FBBC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18411"/>
          <a:stretch>
            <a:fillRect/>
          </a:stretch>
        </p:blipFill>
        <p:spPr>
          <a:xfrm>
            <a:off x="2057400" y="238539"/>
            <a:ext cx="8507895" cy="582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7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A441C-122A-043D-CB92-AECA84EDF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526775"/>
            <a:ext cx="10076688" cy="5755154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a general rule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plain radiographs of the spine should be avoided in patients with chronic back pain.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However, there are some characteristic changes of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seen in the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lateral radiograph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spine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they include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Romanus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lesions or the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shiny corner sign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squaring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vertebral body seen as a result of erosions at the attachments of the spinal ligaments at the vertebral corners. </a:t>
            </a:r>
          </a:p>
          <a:p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Andersson lesion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an uncommon finding and is characterized by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vertebral body erosion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sclerosis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the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intervertebral disk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stages,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ossification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outer layer of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annulus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fibrosus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leads to </a:t>
            </a:r>
            <a:r>
              <a:rPr lang="en-US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syndesmophyte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formation. </a:t>
            </a:r>
          </a:p>
        </p:txBody>
      </p:sp>
    </p:spTree>
    <p:extLst>
      <p:ext uri="{BB962C8B-B14F-4D97-AF65-F5344CB8AC3E}">
        <p14:creationId xmlns:p14="http://schemas.microsoft.com/office/powerpoint/2010/main" val="123871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CB2C14-76D0-7139-BD4E-ED24FA67C1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14648"/>
          <a:stretch>
            <a:fillRect/>
          </a:stretch>
        </p:blipFill>
        <p:spPr>
          <a:xfrm>
            <a:off x="2445026" y="447261"/>
            <a:ext cx="7434469" cy="6112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8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DC8D4-BD15-D52B-5D31-094C58401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00647" y="516835"/>
            <a:ext cx="10076688" cy="528801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 </a:t>
            </a:r>
            <a:r>
              <a:rPr lang="en-US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syndesmophyte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orientation is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vertical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differentiating it from the horizontal orientation of osteophytes, which is commonly seen with OA of the spine. </a:t>
            </a:r>
          </a:p>
          <a:p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Bamboo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spine, or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ankylosis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entire spine, is seen in a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small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percentage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late-stage AS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patients.</a:t>
            </a:r>
          </a:p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dose  CT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SIJs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spine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 diagnosis of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emerging as an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plain X-ray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assessing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progression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160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6BAC50-364D-A559-DEE5-F2E99CAE45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9236"/>
          <a:stretch>
            <a:fillRect/>
          </a:stretch>
        </p:blipFill>
        <p:spPr>
          <a:xfrm>
            <a:off x="2206488" y="119270"/>
            <a:ext cx="8309112" cy="663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19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70485-CD47-ABA0-4116-275A5F0D0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407505"/>
            <a:ext cx="10076688" cy="5874424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endParaRPr lang="en-US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MRI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SIJs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spine has evolved as an important tool in making the diagnosis of 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the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stage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disease, MRI of the SIJs may show evidence of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inflammation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or “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osteitis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,” and that may be the only abnormality. 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passes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 active inflammatory changes transition to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fatty metaplasia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this may further transform to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bone formation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structural changes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sclerosis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 metaplasia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erosions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fat metaplasia in an erosion cavity (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backfill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and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bone formation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 addition to the inflammatory changes seen on MRI, aid in making the diagnosis of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</a:p>
          <a:p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Sole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presence of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inflammatory lesions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stages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sole presence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ankylosis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very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 stage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be enough for the diagnosis of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but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a general rule, multiple types of inflammatory and structural lesions increase the suspicion of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spine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multiple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corner inflammatory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lesions and/or multiple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corner fatty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lesions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confidence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diagnosis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0545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F200BB-81A7-6627-2935-505F58B18B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912"/>
          <a:stretch>
            <a:fillRect/>
          </a:stretch>
        </p:blipFill>
        <p:spPr>
          <a:xfrm>
            <a:off x="1336067" y="1790823"/>
            <a:ext cx="4857750" cy="298132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479892-5646-6B8E-093B-B2C9CC04181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b="18912"/>
          <a:stretch>
            <a:fillRect/>
          </a:stretch>
        </p:blipFill>
        <p:spPr>
          <a:xfrm>
            <a:off x="6784975" y="1790823"/>
            <a:ext cx="4572000" cy="298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055F5-A3E7-2543-2637-5DAD396A3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0890" y="233569"/>
            <a:ext cx="10076688" cy="5814391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MRI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sensitive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imaging technique, and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 stress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the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SIJs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athletes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postpartum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women, and even in normal individuals, especially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above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may show changes of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osteitis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 metaplasia-type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changes in the 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SIJs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also seen in 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degenerative arthritis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well as in normal individuals. </a:t>
            </a:r>
          </a:p>
          <a:p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Inappropriate utilization of MRI can lead to overdiagnosis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93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96B3-28BE-EB39-ACA2-3CE005DF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19804"/>
            <a:ext cx="10076688" cy="107939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   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DIFFERENTIAL DIAGNOSIS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F4E4-FF73-DA8B-A5B9-B72813883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1729011"/>
            <a:ext cx="10076688" cy="5068957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Chronic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nonspecific “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 pain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common in the general population, and </a:t>
            </a:r>
            <a:r>
              <a:rPr lang="en-US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etiology in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4–5%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such patients.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 causes of back pain therefore should be considered first in a patient presenting with chronic back pain.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so-called “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 flag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signs of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fever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 loss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age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past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malignancy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should alert the examiner to look for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osteomyelitis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osteoporotic fracture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metastatic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disease.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young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patients with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generalized body pain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fibromyalgia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central sensitization,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hypermobility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hypothyroidism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hypovitaminosis D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be considered.</a:t>
            </a:r>
          </a:p>
          <a:p>
            <a:endParaRPr lang="en-US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156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F310D-A842-438F-18DD-C21EA338A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1781490"/>
            <a:ext cx="10076688" cy="310896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Abnormalities on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incidental imaging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 patient with or even without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chronic back pain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 to other DDx such as diffuse idiopathic skeletal hyperostosis (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DISH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or osteitis </a:t>
            </a:r>
            <a:r>
              <a:rPr lang="en-US" sz="3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condensans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ilii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OCI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8313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17A2-96BB-82B8-1089-073B0C7DA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616226"/>
            <a:ext cx="10076688" cy="5665702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DISH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noninflammatory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degenerative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condition affecting the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spine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with exuberant new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bone formation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form of anterior and posterior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longitudinal ligament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ossification of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least 4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contiguous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vertebral bodies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bulky “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flowing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osteophytes typically on the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side of the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thoracic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spine, but normal SIJs. </a:t>
            </a:r>
          </a:p>
          <a:p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generally seen in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obese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diabetic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males, often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older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than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Y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age. </a:t>
            </a:r>
          </a:p>
          <a:p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DISH is sometimes mistaken for bamboo spine of AS.</a:t>
            </a:r>
          </a:p>
        </p:txBody>
      </p:sp>
    </p:spTree>
    <p:extLst>
      <p:ext uri="{BB962C8B-B14F-4D97-AF65-F5344CB8AC3E}">
        <p14:creationId xmlns:p14="http://schemas.microsoft.com/office/powerpoint/2010/main" val="298128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148A76-1B7B-72C3-936D-946D723C7D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84782" y="685800"/>
            <a:ext cx="7394713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65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02D3D-5C9A-C9A9-0B86-648287884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954157"/>
            <a:ext cx="10076688" cy="5327771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endParaRPr lang="en-US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9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OCI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usually an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asymptomatic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condition of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multiparous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 characterized by radiographic findings of a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triangular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area of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dense sclerosis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the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inferior part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iliac side of the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SIJs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can be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mistaken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sacroiliitis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in early stages,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MRI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SIJs may be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indistinguishable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that of </a:t>
            </a:r>
            <a:r>
              <a:rPr lang="en-US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erosions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should </a:t>
            </a:r>
            <a:r>
              <a:rPr lang="en-US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distinguish OCI from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800" b="1" dirty="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OCI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can be seen in </a:t>
            </a:r>
            <a:r>
              <a:rPr lang="en-US" sz="2800" b="1" dirty="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nulliparous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 and </a:t>
            </a:r>
            <a:r>
              <a:rPr lang="en-US" sz="2800" b="1" dirty="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 men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3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</a:t>
            </a:r>
            <a:r>
              <a:rPr lang="en-US" sz="35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DISH</a:t>
            </a:r>
            <a:r>
              <a:rPr lang="en-US" sz="3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35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OCI</a:t>
            </a:r>
            <a:r>
              <a:rPr lang="en-US" sz="35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generally asymptomatic, some patients with either condition may present with chronic back pain</a:t>
            </a:r>
            <a:r>
              <a:rPr lang="en-US" sz="3500" dirty="0">
                <a:solidFill>
                  <a:srgbClr val="00206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01153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8FBDD-A86E-1F27-01B0-79C71FABC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19917" y="417444"/>
            <a:ext cx="10076688" cy="5874026"/>
          </a:xfr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endParaRPr lang="en-US" sz="4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IBP with sclerotic changes on SIJs X-ray  can also be seen in conditions such as postpartum 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insufficiency </a:t>
            </a:r>
            <a:r>
              <a:rPr lang="en-US" sz="4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fx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sacrum</a:t>
            </a:r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septic</a:t>
            </a:r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sacroiliitis from 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</a:t>
            </a:r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brucellosis</a:t>
            </a:r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fungi</a:t>
            </a:r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other infectious agents; and rarely, </a:t>
            </a:r>
            <a:r>
              <a:rPr lang="en-US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malignancies</a:t>
            </a:r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such as </a:t>
            </a:r>
            <a:r>
              <a:rPr lang="en-US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4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06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D6403-5D3A-8D9A-B93C-D1B6C1F0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908" y="1047584"/>
            <a:ext cx="10076688" cy="1129085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                      </a:t>
            </a:r>
            <a:r>
              <a:rPr lang="en-US" sz="4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9B13B-F4F4-DD4E-0FC6-E90F02DA9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7656" y="2482796"/>
            <a:ext cx="10076688" cy="310896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NSAIDs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should be used in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highest tolerable doses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continuously in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disease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on an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as-needed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basis if the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disease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stable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particular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NSAID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preferred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over any other. </a:t>
            </a:r>
          </a:p>
          <a:p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Side effects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monitor are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GUD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renal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insufficiency, and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CVD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785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CB88D-61F3-0E81-9059-B03F29E21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00647" y="1344168"/>
            <a:ext cx="10076688" cy="310896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3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 DMARDs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 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SSZ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up to 3 g/d, and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MTX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up to 25 mg/</a:t>
            </a:r>
            <a:r>
              <a:rPr lang="en-US" sz="3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wk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are useful for the treatment of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joint and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entheses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involvement, but not for axial disease in </a:t>
            </a:r>
            <a:r>
              <a:rPr lang="en-US" sz="3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8165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79685-37E2-6773-0832-DCCAD98D0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739471"/>
            <a:ext cx="5029200" cy="1119146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              </a:t>
            </a:r>
            <a:br>
              <a:rPr lang="en-US" dirty="0"/>
            </a:br>
            <a:r>
              <a:rPr lang="en-US" dirty="0"/>
              <a:t>              </a:t>
            </a:r>
            <a:r>
              <a:rPr lang="en-US" sz="4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TNFi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6C45F-E275-342B-A520-DE0D5AD9D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274073"/>
            <a:ext cx="10076688" cy="3108960"/>
          </a:xfr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disease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remains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despite a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4-week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trial of </a:t>
            </a: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full-dose NSAIDs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treatment should be escalated to start a biologic from either the </a:t>
            </a:r>
            <a:r>
              <a:rPr lang="en-US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TNFi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IL-17i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class.</a:t>
            </a:r>
          </a:p>
          <a:p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initiating therapy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biologics or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JAKi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screening for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TB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hepatitis B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hepatitis C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should be performed.</a:t>
            </a:r>
          </a:p>
        </p:txBody>
      </p:sp>
    </p:spTree>
    <p:extLst>
      <p:ext uri="{BB962C8B-B14F-4D97-AF65-F5344CB8AC3E}">
        <p14:creationId xmlns:p14="http://schemas.microsoft.com/office/powerpoint/2010/main" val="411484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8F966-1012-2757-CAFE-6612B39C8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733" y="431359"/>
            <a:ext cx="10076688" cy="112908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          PSORIATIC ARTHRITIS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C8449-DCCB-6E66-09A7-A9B2B7CF9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49733" y="1560444"/>
            <a:ext cx="10076688" cy="5128591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relatively common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immune-mediated inflammatory condition that may lead to progressive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 damage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If left untreated, it is associated with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poor quality of life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loss of function, and increased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morbidity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mortality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associated with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cutaneous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nail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psoriasis, involves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 joints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axial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skeleton (SIJs and spine),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entheses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tendon sheaths.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addition,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uveitis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IBD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coexist with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PsA.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Common comorbidities of PsA include </a:t>
            </a:r>
            <a:r>
              <a:rPr lang="en-US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depression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metabolic syndrome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CVD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Sometimes the term “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psoriatic disease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is used to emphasize these varied manifestations.</a:t>
            </a:r>
          </a:p>
        </p:txBody>
      </p:sp>
    </p:spTree>
    <p:extLst>
      <p:ext uri="{BB962C8B-B14F-4D97-AF65-F5344CB8AC3E}">
        <p14:creationId xmlns:p14="http://schemas.microsoft.com/office/powerpoint/2010/main" val="121067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81A9-33D7-A319-3AC4-08BC36FC7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10076688" cy="989937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                        </a:t>
            </a:r>
            <a:br>
              <a:rPr lang="en-US" dirty="0"/>
            </a:br>
            <a:r>
              <a:rPr lang="en-US" dirty="0"/>
              <a:t>                       </a:t>
            </a:r>
            <a:r>
              <a:rPr lang="en-US" b="1" dirty="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EPIDEMIOLOGY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7C1D7-2149-7599-0C61-DF22EFE05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59" y="2200920"/>
            <a:ext cx="10076688" cy="3722801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endParaRPr lang="en-US" sz="2400" b="1" dirty="0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a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prevalence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2–3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%,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skin </a:t>
            </a:r>
            <a:r>
              <a:rPr lang="en-US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Pso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one of the most common immune-mediated diseases.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prevalence of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patients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Pso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30%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(range, 6–42%). The incidence of PsA in patients with psoriasis is 3 per 100 patient-years (range 2–10) and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 the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severity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skin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Pso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likelihood of developing PsA in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Pso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patients does not change over time.</a:t>
            </a:r>
          </a:p>
          <a:p>
            <a:endParaRPr lang="en-US" sz="2400" b="1" dirty="0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94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5974A-CA75-7444-9A33-1732DC7BC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698" y="441297"/>
            <a:ext cx="9980876" cy="1178781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      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FEATURES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EC2AF-2661-7EFD-7F5D-0FB2DD269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70792" y="1927792"/>
            <a:ext cx="10076688" cy="4274225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features of PsA include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arthritis,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axial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arthritis (spondylitis),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enthesitis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dactylitis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tenosynovitis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Inflammatory arthritis presents with joint pain, swelling, prolonged stiffness, and reduced mobility.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Typically,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PsA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oligoarticular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(and often asymmetric, and as the number of affected joints increases, the disease becomes polyarticular and the distribution becomes more symmetric. </a:t>
            </a:r>
          </a:p>
          <a:p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DIP joint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involvement is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 of PsA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is associated with psoriatic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nail changes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 the nail bed is closely linked to the DIP joints.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44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A2B82-B4A3-FFEB-F7EA-7B1BD7B98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19916" y="857150"/>
            <a:ext cx="10076688" cy="4380772"/>
          </a:xfr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endParaRPr lang="en-US" sz="32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Dactylitis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due to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inflammation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joints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tendons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bones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 tissues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 the digit.</a:t>
            </a:r>
          </a:p>
          <a:p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Dactylitis is a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marker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severity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PsA, and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persistent dactylitis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leads to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structural damage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the joints within that digit.</a:t>
            </a:r>
          </a:p>
          <a:p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Arthritis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mutilans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an end manifestation of a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severe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arthritis process.</a:t>
            </a:r>
          </a:p>
          <a:p>
            <a:endParaRPr lang="en-US" sz="3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46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E4728-AED2-F19C-C724-D97053772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1411357"/>
            <a:ext cx="10076688" cy="4870571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Pso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be hidden in areas such as the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scalp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umbilicus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below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breasts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or in the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natal cleft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or it may be present in the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nail only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should be looked for carefully. </a:t>
            </a:r>
          </a:p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 involvement of the joints of the fingers or toes is in a “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ray” distribution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(involvement of all joints in a finger or toe), with one finger showing dactylitis, another with bony ankylosis, and the neighboring finger showing arthritis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mutilans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9207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48CF02-E280-C3B7-38CD-F019D4E9A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939" y="417444"/>
            <a:ext cx="4552661" cy="529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4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F78CA-C7A2-B8B9-9848-5666CC207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8638" y="708063"/>
            <a:ext cx="10076688" cy="5752372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tests only play a minor role in the diagnosis of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PsA.</a:t>
            </a:r>
            <a:endParaRPr lang="en-US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Tests for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such as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ESR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CRP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abnormal in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~50%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patients despite clinically active disease. </a:t>
            </a:r>
          </a:p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levels of ESR or CRP are markers of severe disease and are predictors of radiographic damage and mortality.</a:t>
            </a:r>
          </a:p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RF is typically negative, but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titer RF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low titer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anti- </a:t>
            </a:r>
            <a:r>
              <a:rPr lang="en-US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ccp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be positive in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than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10%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patients</a:t>
            </a:r>
            <a:r>
              <a:rPr lang="en-US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HLA-B27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20%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all patients with PsA and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patients with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axial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PsA</a:t>
            </a:r>
          </a:p>
          <a:p>
            <a:endParaRPr lang="en-US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84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DF3B-70DD-C310-5005-AB56F5442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23066" cy="820972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                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IMAGING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28FF8-B438-88A3-BECB-B125BFDB3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286000"/>
            <a:ext cx="9623066" cy="3995928"/>
          </a:xfr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endParaRPr lang="en-US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erosions are often accompanied by “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fluffy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new bone formation.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combination of erosions at joint margins with new bone formation is characteristic of PsA 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bone formation may also cause ankylosis of the joints. There also may be joint space narrowing,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“pencil-in-cup”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deformity, and in late stages, such as arthritis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mutilans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total joint destruction or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 lysis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acro-osteolysis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(resorption of the terminal phalanx) are seen.</a:t>
            </a:r>
          </a:p>
        </p:txBody>
      </p:sp>
    </p:spTree>
    <p:extLst>
      <p:ext uri="{BB962C8B-B14F-4D97-AF65-F5344CB8AC3E}">
        <p14:creationId xmlns:p14="http://schemas.microsoft.com/office/powerpoint/2010/main" val="35006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43D08A-5525-6E89-B472-85E3413991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555333" y="1212850"/>
            <a:ext cx="7525834" cy="506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1F2E9D-E590-92F0-B2D8-C502B7FF29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16314"/>
          <a:stretch>
            <a:fillRect/>
          </a:stretch>
        </p:blipFill>
        <p:spPr>
          <a:xfrm>
            <a:off x="3379304" y="765313"/>
            <a:ext cx="5883966" cy="42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3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7B16DB-8FC0-E363-8AB0-C913BABE5D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15995"/>
          <a:stretch>
            <a:fillRect/>
          </a:stretch>
        </p:blipFill>
        <p:spPr>
          <a:xfrm>
            <a:off x="3468757" y="944217"/>
            <a:ext cx="5993295" cy="440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13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5455C4-A768-DBDF-5AE1-20BB0508FB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9912"/>
          <a:stretch>
            <a:fillRect/>
          </a:stretch>
        </p:blipFill>
        <p:spPr>
          <a:xfrm>
            <a:off x="4005470" y="864705"/>
            <a:ext cx="5794513" cy="488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87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EC5CB-F7D6-744B-B049-3C17D9BE9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1152939"/>
            <a:ext cx="10076688" cy="755374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            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CRITERIa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B9C03-EE39-A4A1-9BFA-BC02055CD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59" y="2238689"/>
            <a:ext cx="10076688" cy="310896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 fontScale="92500" lnSpcReduction="10000"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Classification of Psoriatic Arthritis (CASPAR) criteria  have a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specificity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98.7%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91.4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%.</a:t>
            </a:r>
          </a:p>
          <a:p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meet the CASPAR criteria for PsA, individuals must first have inflammatory articular disease (joint, spine, or </a:t>
            </a:r>
            <a:r>
              <a:rPr lang="en-US" sz="32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entheseal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and must have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least 3 points </a:t>
            </a: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the five categories.</a:t>
            </a:r>
          </a:p>
        </p:txBody>
      </p:sp>
    </p:spTree>
    <p:extLst>
      <p:ext uri="{BB962C8B-B14F-4D97-AF65-F5344CB8AC3E}">
        <p14:creationId xmlns:p14="http://schemas.microsoft.com/office/powerpoint/2010/main" val="428745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41580-92F1-3A53-21B0-139B4FC88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924339"/>
            <a:ext cx="10076688" cy="5357589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8939400-6602-6F79-F83C-2F7237FCD5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6798916"/>
              </p:ext>
            </p:extLst>
          </p:nvPr>
        </p:nvGraphicFramePr>
        <p:xfrm>
          <a:off x="1918252" y="1411357"/>
          <a:ext cx="9183757" cy="7470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Acrobat Document" r:id="rId3" imgW="4663262" imgH="6034723" progId="AcroExch.Document.DC">
                  <p:embed/>
                </p:oleObj>
              </mc:Choice>
              <mc:Fallback>
                <p:oleObj name="Acrobat Document" r:id="rId3" imgW="4663262" imgH="6034723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18252" y="1411357"/>
                        <a:ext cx="9183757" cy="74709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232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65971-DC8D-F6AD-F377-CA1BABF31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598" y="302150"/>
            <a:ext cx="10004332" cy="930303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            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DIFFERENTIAL DIAGNOSIS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A670A-5E3D-667F-6573-BB88396E3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67598" y="1334229"/>
            <a:ext cx="10076688" cy="499699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 most common form of arthritis, occurs in ~5% of the population, and it may coexist with psoriasis especially in the DIP joints. Thus, the presence of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Heberden nodules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context of patients with hand OA with concomitant psoriasis is an important differential diagnosis to be made.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Psoriatic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nail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involvement would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PsA from inflammatory OA of the DIP joints, along with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imaging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abnormalities such as on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Patients with “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seronegative RA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should be carefully examined for presence of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Pso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hidden areas and questioned about FH of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Pso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patients with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seronegative RA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have </a:t>
            </a:r>
            <a:r>
              <a:rPr lang="en-US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such as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IBD-associated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arthritis.</a:t>
            </a:r>
          </a:p>
          <a:p>
            <a:endParaRPr lang="en-US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865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95903-BEE9-E3F7-5FB2-971DC904A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381662"/>
            <a:ext cx="10076687" cy="87066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        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OF PSORIATIC ARTHRITIS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183AF-EACF-46DD-B2B7-90102F409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58" y="1252330"/>
            <a:ext cx="10076688" cy="4979503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four main classes of pharmacotherapy used in the management of PsA include</a:t>
            </a:r>
          </a:p>
          <a:p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NSAIDs</a:t>
            </a:r>
          </a:p>
          <a:p>
            <a:r>
              <a:rPr lang="en-US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csDMARDs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96D3ED"/>
              </a:buClr>
              <a:buSzPct val="80000"/>
              <a:buFont typeface="Courier New" panose="02070309020205020404" pitchFamily="49" charset="0"/>
              <a:buChar char="o"/>
              <a:tabLst/>
              <a:defRPr/>
            </a:pP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biologic DMARDs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TNFi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(etanercept, adalimumab, infliximab, certolizumab, or golimumab), antibodies against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IL-12/23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ustekinumab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IL-17A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secukinumab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ixekizumab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), IL-17A and IL-17F 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bimekizumab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IL-23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guselkumab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risankizumab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), and costimulatory blockade agent (abatacept).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96D3ED"/>
              </a:buClr>
              <a:buSzPct val="80000"/>
              <a:buFont typeface="Courier New" panose="02070309020205020404" pitchFamily="49" charset="0"/>
              <a:buChar char="o"/>
              <a:tabLst/>
              <a:defRPr/>
            </a:pPr>
            <a:r>
              <a:rPr lang="en-US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tsDMARDs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PDE4 inhibitor </a:t>
            </a:r>
            <a:r>
              <a:rPr lang="en-US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Apremilast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JAKi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(Tofacitinib, Baricitinib)</a:t>
            </a:r>
          </a:p>
        </p:txBody>
      </p:sp>
    </p:spTree>
    <p:extLst>
      <p:ext uri="{BB962C8B-B14F-4D97-AF65-F5344CB8AC3E}">
        <p14:creationId xmlns:p14="http://schemas.microsoft.com/office/powerpoint/2010/main" val="280879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CFDF-EB8E-58D7-BBC4-21A9B4CA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10076688" cy="711642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                 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REACTIVE ARTHRITIS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F5780-545C-B2A5-5EB7-CB5DB87EB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1942504"/>
            <a:ext cx="10076688" cy="3702922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refers to the development of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arthritis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following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UG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infection involving well-defined triggering microorganisms that are normally not cultivable from the joints affected.</a:t>
            </a:r>
          </a:p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Prototypical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inducers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include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Yersinia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Campylobacter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Salmonella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Shigella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Chlamydia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8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16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4E907-35D1-AC91-042E-A26669FA2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40080"/>
            <a:ext cx="10076688" cy="711642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CLINICAL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39400-5399-C1E0-1EEF-E47D71A78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1486893"/>
            <a:ext cx="10076688" cy="4731027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crucial factor in the diagnosis relates to recognition of the clinical picture and the identification of causative organisms.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hallmark feature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delay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 initial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infection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onset of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arthritis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the interval ranges between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d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W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after infection.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Inflammatory MSK disease (joint, spine, or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entheseal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is essential for the diagnosis of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 clinical spectrum may include a typical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asymmetrical oligoarticular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arthritis preferentially involving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limbs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enthesitis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tendonitis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bursitis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dactylitis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IBP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sacroiliitis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Mucocutaneous lesions may also occur in addition to the MSK manifestations and include uveitis/conjunctivitis, EN, oral ulcers, circinate balanitis, and keratoderma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blenorrhagica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n-US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14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96459-A748-C418-0B78-021685881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1284533"/>
            <a:ext cx="10076688" cy="310896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strongly associated with the presence of </a:t>
            </a:r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HLA-B27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with up to </a:t>
            </a:r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50–80%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all </a:t>
            </a:r>
            <a:r>
              <a:rPr lang="en-US" sz="3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patients carrying HLA-B27.</a:t>
            </a:r>
          </a:p>
          <a:p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Prevalence of </a:t>
            </a:r>
            <a:r>
              <a:rPr lang="en-US" sz="36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matches the </a:t>
            </a:r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prevalence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HLA-B27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which has a clear North-South gradient.</a:t>
            </a:r>
          </a:p>
        </p:txBody>
      </p:sp>
    </p:spTree>
    <p:extLst>
      <p:ext uri="{BB962C8B-B14F-4D97-AF65-F5344CB8AC3E}">
        <p14:creationId xmlns:p14="http://schemas.microsoft.com/office/powerpoint/2010/main" val="83294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86CC8-674D-46B8-76F7-5636CDC83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39796" y="363969"/>
            <a:ext cx="10076688" cy="5838047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en-US" sz="2400" dirty="0"/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thought to be self-limiting and resolving in a large proportion of patients,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also evolve into a chronic phase.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presence of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HLA-B27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has been linked to the evolution into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chronicity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part because HLA-B27 has been suggested to promote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intracellular survival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causative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microorganisms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infected macrophages, providing a roadmap to chronicity.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chronic forms of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(e.g., lasting longer than 6 m and with inadequate response to management outline in acute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DMARDs such as SSZ and MTX and even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TNFis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can be considered.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Overall, the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chronic forms of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follows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 principles of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 </a:t>
            </a:r>
            <a:r>
              <a:rPr lang="en-US" sz="2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0233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F851D-6100-03D1-E0FC-10117C8FC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31359"/>
            <a:ext cx="10076687" cy="721581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          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IBD Associated arthritis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1291E-EF45-D3B7-92CA-82BBBA3A9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58" y="1321905"/>
            <a:ext cx="10076688" cy="5215658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intriguing relationship between bowel and joint inflammation has emanated for &gt;50 years that points to a prominent role of barrier integrity loss and dysbiosis in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initially recognized by uncovering the occurrence of arthritis in IBD patients.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link between gut and joint inflammation, however, is reciprocal. Hence, patients with a diagnosis of </a:t>
            </a: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but without associated GI symptoms were also found to display histologic signs of inflammation in ileocolonoscopic studies, primarily in the terminal ileum. </a:t>
            </a:r>
          </a:p>
          <a:p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Here,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types of lesions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were described: an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acute type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inflammation resembling an infectious enterocolitis and a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chronic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type of inflammation with many features of Crohn’s disease. </a:t>
            </a:r>
          </a:p>
          <a:p>
            <a:endParaRPr lang="en-US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547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AA26E-A64D-DCC3-9891-E7E930E83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698" y="997889"/>
            <a:ext cx="10076687" cy="910424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/>
              <a:t>     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infection-related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arthritides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609F1-4D50-8994-73E2-0FC106ED7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8698" y="2268506"/>
            <a:ext cx="10076688" cy="420186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forms of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arthritis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associated with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infections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except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septic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arthritis. </a:t>
            </a:r>
          </a:p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include, among others,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ARF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meningococcus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Mycoplasma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genitalium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Ureaplasma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urealyticum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Chlamydia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pneumoniae, </a:t>
            </a:r>
            <a:r>
              <a:rPr lang="en-US" sz="28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betahemolytic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streptococci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some 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 vaccines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COVID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should not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 described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 the clinical pattern does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fit the </a:t>
            </a:r>
            <a:r>
              <a:rPr lang="en-US" sz="28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spectrum and is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unrelated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HLA-B27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656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ACBA7-6AFB-2369-BF21-5F7D1F1C2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1600200"/>
            <a:ext cx="10076688" cy="4651911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 </a:t>
            </a:r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UC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associated with </a:t>
            </a:r>
            <a:r>
              <a:rPr lang="en-US" sz="3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3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well as </a:t>
            </a:r>
            <a:r>
              <a:rPr lang="en-US" sz="3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pSpA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commonly occur in both of them, with </a:t>
            </a:r>
            <a:r>
              <a:rPr lang="en-US" sz="3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pSpA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being the most prevalent form. </a:t>
            </a:r>
          </a:p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R-</a:t>
            </a:r>
            <a:r>
              <a:rPr lang="en-US" sz="36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develops in up to </a:t>
            </a:r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10%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IBD patients, whereas prevalence of </a:t>
            </a:r>
            <a:r>
              <a:rPr lang="en-US" sz="3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pSpA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varies largely according to various studies, ranging from </a:t>
            </a:r>
            <a:r>
              <a:rPr lang="en-US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to 30%.</a:t>
            </a:r>
          </a:p>
        </p:txBody>
      </p:sp>
    </p:spTree>
    <p:extLst>
      <p:ext uri="{BB962C8B-B14F-4D97-AF65-F5344CB8AC3E}">
        <p14:creationId xmlns:p14="http://schemas.microsoft.com/office/powerpoint/2010/main" val="375204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80DDB-A0E3-D45D-276C-4821B7349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612" y="1097280"/>
            <a:ext cx="10076688" cy="52478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65CF1-78CD-4354-3C53-DBB01455D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9612" y="2126974"/>
            <a:ext cx="10076688" cy="4502426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Axial skeletal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involvement associated with IBD is clinically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idiopathic 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There may be, however, a disconnect in time in the occurrence of both. Thus,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develop after diagnosis of IBD but, in other cases, precedes onset of IBD. </a:t>
            </a:r>
          </a:p>
          <a:p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 involvement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IBD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resembles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clinical picture of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peripheral 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which may include more acute forms of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oligoarthritis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co-occur with relapses of IBD. 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chronic forms of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also occur that may cause substantial structural damage if not appropriately treated. A rare symmetric polyarticular arthritis that runs an independent course has also been described. </a:t>
            </a:r>
          </a:p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addition to IBD patients with a firm diagnosis of </a:t>
            </a:r>
            <a:r>
              <a:rPr lang="en-US" sz="20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 comparable fraction of IBD patients have arthralgias or fibromyalgia symptoms. </a:t>
            </a:r>
          </a:p>
        </p:txBody>
      </p:sp>
    </p:spTree>
    <p:extLst>
      <p:ext uri="{BB962C8B-B14F-4D97-AF65-F5344CB8AC3E}">
        <p14:creationId xmlns:p14="http://schemas.microsoft.com/office/powerpoint/2010/main" val="210439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C024-D116-16AC-C99D-5ECF94F48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1097280"/>
            <a:ext cx="10076687" cy="840850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                     </a:t>
            </a:r>
            <a:r>
              <a:rPr lang="en-US" b="1" dirty="0" smtClean="0">
                <a:solidFill>
                  <a:srgbClr val="002060"/>
                </a:solidFill>
              </a:rPr>
              <a:t>MANAGEMENT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24A19-5B9F-A256-DADB-EEFA275A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186609"/>
            <a:ext cx="10076688" cy="4065502"/>
          </a:xfr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of IBD-related arthritis follows the general principles of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pSpA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treatment with some special considerations, given the observed disconnect that may occur between gut and joint symptoms with some targeted therapies. Within the targeted therapies, the monoclonal </a:t>
            </a:r>
            <a:r>
              <a:rPr lang="en-US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but not the soluble receptor, blocking TNF-α are effective in IBD as well as in both axial and </a:t>
            </a:r>
            <a:r>
              <a:rPr lang="en-US" b="1" dirty="0" err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pSpA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Other biologics with efficacy in IBD that may have proven efficacy in peripheral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include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ustekinumab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(anti-IL12/23p40),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guselkumab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risankizumab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(antiIL23p19), but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anti-IL17 therapy is contraindicated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b="1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JAKi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tofacitinib and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upadacitinib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approved in ulcerative colitis and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upadacitinib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are also effective in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axSpA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pSpA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Other treatments for IBD include </a:t>
            </a:r>
            <a:r>
              <a:rPr lang="en-US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SSZ</a:t>
            </a:r>
            <a:r>
              <a:rPr lang="en-US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related drugs as well as systemic and local </a:t>
            </a:r>
            <a:r>
              <a:rPr lang="en-US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</a:t>
            </a:r>
            <a:r>
              <a:rPr lang="en-US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NSAIDs, especially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COX2-selective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formulations, are helpful for arthritis and generally well tolerated but may induce IBD flares, so they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should be considered only for temporary use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Vedolizumab is a gut-selective integrin inhibitor approved for both Crohn’s disease and ulcerative colitis.</a:t>
            </a:r>
          </a:p>
        </p:txBody>
      </p:sp>
    </p:spTree>
    <p:extLst>
      <p:ext uri="{BB962C8B-B14F-4D97-AF65-F5344CB8AC3E}">
        <p14:creationId xmlns:p14="http://schemas.microsoft.com/office/powerpoint/2010/main" val="163584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bIns="0" anchor="ctr" anchorCtr="0"/>
          <a:lstStyle/>
          <a:p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81D8D6-8849-400B-8BC9-21D401C7DD06}">
  <ds:schemaRefs>
    <ds:schemaRef ds:uri="http://purl.org/dc/elements/1.1/"/>
    <ds:schemaRef ds:uri="http://schemas.microsoft.com/sharepoint/v3"/>
    <ds:schemaRef ds:uri="16c05727-aa75-4e4a-9b5f-8a80a1165891"/>
    <ds:schemaRef ds:uri="http://purl.org/dc/terms/"/>
    <ds:schemaRef ds:uri="71af3243-3dd4-4a8d-8c0d-dd76da1f02a5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230e9df3-be65-4c73-a93b-d1236ebd677e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{039130E7-095C-495F-8D90-933DC2C28C5C}TF51de1e5f-e0e8-4dd0-99f3-5b7584f7abdc7d30e886_win32-78d4aef5ad8e</Template>
  <TotalTime>892</TotalTime>
  <Words>5581</Words>
  <Application>Microsoft Office PowerPoint</Application>
  <PresentationFormat>Widescreen</PresentationFormat>
  <Paragraphs>264</Paragraphs>
  <Slides>80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9" baseType="lpstr">
      <vt:lpstr>Aller</vt:lpstr>
      <vt:lpstr>Aptos</vt:lpstr>
      <vt:lpstr>Arial</vt:lpstr>
      <vt:lpstr>Calibri</vt:lpstr>
      <vt:lpstr>Courier New</vt:lpstr>
      <vt:lpstr>Daytona Condensed Light</vt:lpstr>
      <vt:lpstr>Posterama</vt:lpstr>
      <vt:lpstr>Custom</vt:lpstr>
      <vt:lpstr>Acrobat Document</vt:lpstr>
      <vt:lpstr>Spondyloarthritis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GENETIC ASSOCIATIONS HLA-B27&amp;   BEYOND</vt:lpstr>
      <vt:lpstr>PowerPoint Presentation</vt:lpstr>
      <vt:lpstr>PowerPoint Presentation</vt:lpstr>
      <vt:lpstr>PowerPoint Presentation</vt:lpstr>
      <vt:lpstr>Mechanical Stress as Gateway to Joint Disease in SpA</vt:lpstr>
      <vt:lpstr>PowerPoint Presentation</vt:lpstr>
      <vt:lpstr>Barrier Integrity Loss and the Intestinal Microbiota in SpA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DIFFERENTIAL DIAGNOSIS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Treatment</vt:lpstr>
      <vt:lpstr>PowerPoint Presentation</vt:lpstr>
      <vt:lpstr>                             TNFi </vt:lpstr>
      <vt:lpstr>                PSORIATIC ARTHRITIS   </vt:lpstr>
      <vt:lpstr>                                                EPIDEMIOLOGY</vt:lpstr>
      <vt:lpstr>                 CLINICAL FEATURES  </vt:lpstr>
      <vt:lpstr>PowerPoint Presentation</vt:lpstr>
      <vt:lpstr>PowerPoint Presentation</vt:lpstr>
      <vt:lpstr>PowerPoint Presentation</vt:lpstr>
      <vt:lpstr>PowerPoint Presentation</vt:lpstr>
      <vt:lpstr>                 IMAGING FEATURES</vt:lpstr>
      <vt:lpstr>PowerPoint Presentation</vt:lpstr>
      <vt:lpstr>PowerPoint Presentation</vt:lpstr>
      <vt:lpstr>PowerPoint Presentation</vt:lpstr>
      <vt:lpstr>PowerPoint Presentation</vt:lpstr>
      <vt:lpstr>             CLASSIFICATION CRITERIa </vt:lpstr>
      <vt:lpstr>PowerPoint Presentation</vt:lpstr>
      <vt:lpstr>             DIFFERENTIAL DIAGNOSIS</vt:lpstr>
      <vt:lpstr>         TREATMENT OF PSORIATIC ARTHRITIS</vt:lpstr>
      <vt:lpstr>                 REACTIVE ARTHRITIS</vt:lpstr>
      <vt:lpstr>                CLINICAL FEATURES</vt:lpstr>
      <vt:lpstr>PowerPoint Presentation</vt:lpstr>
      <vt:lpstr>PowerPoint Presentation</vt:lpstr>
      <vt:lpstr>           IBD Associated arthritis</vt:lpstr>
      <vt:lpstr>      infection-related arthritides  </vt:lpstr>
      <vt:lpstr>PowerPoint Presentation</vt:lpstr>
      <vt:lpstr>                  CLINICAL FEATURES</vt:lpstr>
      <vt:lpstr>                     MANAGEMENT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Spondyloarthritis</dc:title>
  <dc:creator>ASUS</dc:creator>
  <cp:lastModifiedBy>Asal sadat Azaminasab</cp:lastModifiedBy>
  <cp:revision>71</cp:revision>
  <dcterms:created xsi:type="dcterms:W3CDTF">2025-10-04T18:02:27Z</dcterms:created>
  <dcterms:modified xsi:type="dcterms:W3CDTF">2025-10-06T06:11:22Z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